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716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40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Proyecto</a:t>
            </a:r>
            <a:br>
              <a:rPr lang="es-ES" sz="440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</a:br>
            <a:r>
              <a:rPr lang="es-ES" sz="440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Estudio de los factores vinculados a los delitos violentos</a:t>
            </a:r>
            <a:endParaRPr lang="es-AR" dirty="0">
              <a:latin typeface="Arial Narrow" panose="020B0606020202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81536"/>
            <a:ext cx="6193632" cy="6318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700">
                <a:latin typeface="Arial Narrow" panose="020B0606020202030204" pitchFamily="34" charset="0"/>
              </a:rPr>
              <a:t>Pre-entrega – Comisión 9430</a:t>
            </a:r>
          </a:p>
          <a:p>
            <a:pPr>
              <a:lnSpc>
                <a:spcPct val="90000"/>
              </a:lnSpc>
            </a:pPr>
            <a:r>
              <a:rPr lang="es-ES" sz="1700">
                <a:latin typeface="Arial Narrow" panose="020B0606020202030204" pitchFamily="34" charset="0"/>
              </a:rPr>
              <a:t>Alumno: Andrea Gómez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D38E738-1B3A-658F-59A7-FB8C9FFC40BE}"/>
              </a:ext>
            </a:extLst>
          </p:cNvPr>
          <p:cNvSpPr txBox="1"/>
          <p:nvPr/>
        </p:nvSpPr>
        <p:spPr>
          <a:xfrm>
            <a:off x="1143000" y="551770"/>
            <a:ext cx="3069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Arial Narrow" panose="020B0606020202030204" pitchFamily="34" charset="0"/>
              </a:rPr>
              <a:t>Índice</a:t>
            </a:r>
            <a:endParaRPr lang="es-AR" sz="3600" dirty="0">
              <a:latin typeface="Arial Narrow" panose="020B0606020202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BD3263D-0A14-710E-1090-83B796D51CF3}"/>
              </a:ext>
            </a:extLst>
          </p:cNvPr>
          <p:cNvSpPr txBox="1"/>
          <p:nvPr/>
        </p:nvSpPr>
        <p:spPr>
          <a:xfrm>
            <a:off x="2008414" y="2073729"/>
            <a:ext cx="61068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rial Narrow" panose="020B0606020202030204" pitchFamily="34" charset="0"/>
              </a:rPr>
              <a:t>1.  Temática</a:t>
            </a:r>
          </a:p>
          <a:p>
            <a:endParaRPr lang="es-ES" sz="2400" dirty="0">
              <a:latin typeface="Arial Narrow" panose="020B0606020202030204" pitchFamily="34" charset="0"/>
            </a:endParaRPr>
          </a:p>
          <a:p>
            <a:r>
              <a:rPr lang="es-ES" sz="2400" dirty="0">
                <a:latin typeface="Arial Narrow" panose="020B0606020202030204" pitchFamily="34" charset="0"/>
              </a:rPr>
              <a:t>2.  Objetivo del análisis</a:t>
            </a:r>
          </a:p>
          <a:p>
            <a:endParaRPr lang="es-ES" sz="2400" dirty="0">
              <a:latin typeface="Arial Narrow" panose="020B0606020202030204" pitchFamily="34" charset="0"/>
            </a:endParaRPr>
          </a:p>
          <a:p>
            <a:r>
              <a:rPr lang="es-ES" sz="2400" dirty="0">
                <a:latin typeface="Arial Narrow" panose="020B0606020202030204" pitchFamily="34" charset="0"/>
              </a:rPr>
              <a:t>3.  Preguntas</a:t>
            </a:r>
          </a:p>
          <a:p>
            <a:endParaRPr lang="es-ES" sz="2400" dirty="0">
              <a:latin typeface="Arial Narrow" panose="020B0606020202030204" pitchFamily="34" charset="0"/>
            </a:endParaRPr>
          </a:p>
          <a:p>
            <a:r>
              <a:rPr lang="es-ES" sz="2400" dirty="0">
                <a:latin typeface="Arial Narrow" panose="020B0606020202030204" pitchFamily="34" charset="0"/>
              </a:rPr>
              <a:t>4.  Análisis</a:t>
            </a:r>
          </a:p>
          <a:p>
            <a:endParaRPr lang="es-ES" sz="2400" dirty="0">
              <a:latin typeface="Arial Narrow" panose="020B0606020202030204" pitchFamily="34" charset="0"/>
            </a:endParaRPr>
          </a:p>
          <a:p>
            <a:r>
              <a:rPr lang="es-ES" sz="2400" dirty="0">
                <a:latin typeface="Arial Narrow" panose="020B0606020202030204" pitchFamily="34" charset="0"/>
              </a:rPr>
              <a:t>5.  Conclusiones generales</a:t>
            </a:r>
          </a:p>
          <a:p>
            <a:endParaRPr lang="es-ES" sz="2400" dirty="0">
              <a:latin typeface="Arial Narrow" panose="020B0606020202030204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15E6E81-52A1-8F20-7B70-B125339789E6}"/>
              </a:ext>
            </a:extLst>
          </p:cNvPr>
          <p:cNvCxnSpPr/>
          <p:nvPr/>
        </p:nvCxnSpPr>
        <p:spPr>
          <a:xfrm>
            <a:off x="4572000" y="1567543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E086AB3-8319-E81D-D2C5-322C1E2708A6}"/>
              </a:ext>
            </a:extLst>
          </p:cNvPr>
          <p:cNvCxnSpPr/>
          <p:nvPr/>
        </p:nvCxnSpPr>
        <p:spPr>
          <a:xfrm>
            <a:off x="0" y="6487886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42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A7F4EBD-B806-96ED-B664-0B12BD87AAD5}"/>
              </a:ext>
            </a:extLst>
          </p:cNvPr>
          <p:cNvCxnSpPr/>
          <p:nvPr/>
        </p:nvCxnSpPr>
        <p:spPr>
          <a:xfrm>
            <a:off x="4572000" y="1567543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B22FF2C-48D8-A672-E518-98745967E1E2}"/>
              </a:ext>
            </a:extLst>
          </p:cNvPr>
          <p:cNvCxnSpPr/>
          <p:nvPr/>
        </p:nvCxnSpPr>
        <p:spPr>
          <a:xfrm>
            <a:off x="0" y="6487886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6646465-FAC4-A275-CFEA-9DF3E788564A}"/>
              </a:ext>
            </a:extLst>
          </p:cNvPr>
          <p:cNvSpPr txBox="1"/>
          <p:nvPr/>
        </p:nvSpPr>
        <p:spPr>
          <a:xfrm>
            <a:off x="1143000" y="551770"/>
            <a:ext cx="3069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Arial Narrow" panose="020B0606020202030204" pitchFamily="34" charset="0"/>
              </a:rPr>
              <a:t>Temática</a:t>
            </a:r>
            <a:endParaRPr lang="es-AR" sz="3600" dirty="0">
              <a:latin typeface="Arial Narrow" panose="020B0606020202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2F8511A-0984-0504-B937-C89E3A5A7EFE}"/>
              </a:ext>
            </a:extLst>
          </p:cNvPr>
          <p:cNvSpPr txBox="1"/>
          <p:nvPr/>
        </p:nvSpPr>
        <p:spPr>
          <a:xfrm>
            <a:off x="555172" y="1906764"/>
            <a:ext cx="803365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Arial Narrow" panose="020B0606020202030204" pitchFamily="34" charset="0"/>
              </a:rPr>
              <a:t>Los </a:t>
            </a:r>
            <a:r>
              <a:rPr lang="es-ES" sz="2000" dirty="0" err="1">
                <a:latin typeface="Arial Narrow" panose="020B0606020202030204" pitchFamily="34" charset="0"/>
              </a:rPr>
              <a:t>dataset</a:t>
            </a:r>
            <a:r>
              <a:rPr lang="es-ES" sz="2000" dirty="0">
                <a:latin typeface="Arial Narrow" panose="020B0606020202030204" pitchFamily="34" charset="0"/>
              </a:rPr>
              <a:t> combina datos socioeconómicos del censo de 1990, datos de aplicación de la ley de la encuesta de gestión y estadísticas administrativas de aplicación de la ley de 1990 y datos sobre delincuencia de la UCR.</a:t>
            </a:r>
          </a:p>
          <a:p>
            <a:endParaRPr lang="es-AR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AD3E2BC-5FB4-B4A3-5423-03A49202C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99426"/>
            <a:ext cx="8229600" cy="301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4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706029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lang="es-ES" sz="2400" dirty="0">
                <a:latin typeface="Arial Narrow" panose="020B0606020202030204" pitchFamily="34" charset="0"/>
              </a:rPr>
              <a:t>La variable target es </a:t>
            </a:r>
            <a:r>
              <a:rPr lang="es-ES" sz="2400" i="1" dirty="0" err="1">
                <a:latin typeface="Arial Narrow" panose="020B0606020202030204" pitchFamily="34" charset="0"/>
              </a:rPr>
              <a:t>ViolentCrimesPerPop</a:t>
            </a:r>
            <a:r>
              <a:rPr lang="es-ES" sz="2400" dirty="0">
                <a:latin typeface="Arial Narrow" panose="020B0606020202030204" pitchFamily="34" charset="0"/>
              </a:rPr>
              <a:t>, que representa la proporción de crímenes violentos por habitante.</a:t>
            </a:r>
            <a:br>
              <a:rPr lang="es-ES" sz="2400" dirty="0">
                <a:latin typeface="Arial Narrow" panose="020B0606020202030204" pitchFamily="34" charset="0"/>
              </a:rPr>
            </a:br>
            <a:r>
              <a:rPr lang="es-ES" sz="2400" dirty="0">
                <a:latin typeface="Arial Narrow" panose="020B0606020202030204" pitchFamily="34" charset="0"/>
              </a:rPr>
              <a:t>El propósito central del análisis es identificar los factores socioeconómicos y demográficos más asociados a la violencia y evaluar la capacidad de distintos modelos de regresión para predecir esta variable.</a:t>
            </a:r>
            <a:endParaRPr sz="2400" dirty="0">
              <a:latin typeface="Arial Narrow" panose="020B060602020203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2435BF3-D24E-7CB9-CF43-0D70F19DDB38}"/>
              </a:ext>
            </a:extLst>
          </p:cNvPr>
          <p:cNvCxnSpPr/>
          <p:nvPr/>
        </p:nvCxnSpPr>
        <p:spPr>
          <a:xfrm>
            <a:off x="4572000" y="1567543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BC5A560-AB67-C886-0341-9563B12413F4}"/>
              </a:ext>
            </a:extLst>
          </p:cNvPr>
          <p:cNvCxnSpPr/>
          <p:nvPr/>
        </p:nvCxnSpPr>
        <p:spPr>
          <a:xfrm>
            <a:off x="0" y="6487886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996363AC-CBF6-B0CA-743E-09E801825974}"/>
              </a:ext>
            </a:extLst>
          </p:cNvPr>
          <p:cNvSpPr txBox="1"/>
          <p:nvPr/>
        </p:nvSpPr>
        <p:spPr>
          <a:xfrm>
            <a:off x="1142999" y="551770"/>
            <a:ext cx="362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Arial Narrow" panose="020B0606020202030204" pitchFamily="34" charset="0"/>
              </a:rPr>
              <a:t>Objetivo del análisis</a:t>
            </a:r>
            <a:endParaRPr lang="es-AR" sz="3600" dirty="0">
              <a:latin typeface="Arial Narrow" panose="020B060602020203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E05F26A-B99D-03E0-DD1C-BF183DBFF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49201"/>
            <a:ext cx="4453940" cy="45570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6986"/>
            <a:ext cx="8229600" cy="4147456"/>
          </a:xfrm>
        </p:spPr>
        <p:txBody>
          <a:bodyPr>
            <a:normAutofit/>
          </a:bodyPr>
          <a:lstStyle/>
          <a:p>
            <a:r>
              <a:rPr lang="es-ES" sz="2800" dirty="0">
                <a:latin typeface="Arial Narrow" panose="020B0606020202030204" pitchFamily="34" charset="0"/>
              </a:rPr>
              <a:t>¿Qué variables sociodemográficas se asocian más con </a:t>
            </a:r>
            <a:r>
              <a:rPr lang="es-ES" sz="2800" dirty="0" err="1">
                <a:latin typeface="Arial Narrow" panose="020B0606020202030204" pitchFamily="34" charset="0"/>
              </a:rPr>
              <a:t>ViolentCrimesPerPop</a:t>
            </a:r>
            <a:r>
              <a:rPr lang="es-ES" sz="2800" dirty="0">
                <a:latin typeface="Arial Narrow" panose="020B0606020202030204" pitchFamily="34" charset="0"/>
              </a:rPr>
              <a:t>?</a:t>
            </a:r>
          </a:p>
          <a:p>
            <a:r>
              <a:rPr lang="es-ES" sz="2800" dirty="0">
                <a:latin typeface="Arial Narrow" panose="020B0606020202030204" pitchFamily="34" charset="0"/>
              </a:rPr>
              <a:t>¿La pobreza, educación o estructura familiar influyen en el crimen?</a:t>
            </a:r>
          </a:p>
          <a:p>
            <a:r>
              <a:rPr lang="es-ES" sz="2800" dirty="0">
                <a:latin typeface="Arial Narrow" panose="020B0606020202030204" pitchFamily="34" charset="0"/>
              </a:rPr>
              <a:t>¿Se pueden agrupar comunidades con perfiles de riesgo similares?</a:t>
            </a:r>
          </a:p>
          <a:p>
            <a:r>
              <a:rPr lang="es-ES" sz="2800" dirty="0">
                <a:latin typeface="Arial Narrow" panose="020B0606020202030204" pitchFamily="34" charset="0"/>
              </a:rPr>
              <a:t>¿Podemos predecir correctamente comunidades con alta tasa de crímenes violentos?</a:t>
            </a:r>
          </a:p>
          <a:p>
            <a:pPr>
              <a:defRPr sz="1800"/>
            </a:pPr>
            <a:endParaRPr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C19C5E7-8F8F-6669-1853-5B1B4CD44C2F}"/>
              </a:ext>
            </a:extLst>
          </p:cNvPr>
          <p:cNvCxnSpPr/>
          <p:nvPr/>
        </p:nvCxnSpPr>
        <p:spPr>
          <a:xfrm>
            <a:off x="4572000" y="1567543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992F8F5-1E92-86AF-CA8C-518153E16EE8}"/>
              </a:ext>
            </a:extLst>
          </p:cNvPr>
          <p:cNvCxnSpPr/>
          <p:nvPr/>
        </p:nvCxnSpPr>
        <p:spPr>
          <a:xfrm>
            <a:off x="0" y="6487886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94A17863-6C82-055E-9792-AB57A6392A2C}"/>
              </a:ext>
            </a:extLst>
          </p:cNvPr>
          <p:cNvSpPr txBox="1"/>
          <p:nvPr/>
        </p:nvSpPr>
        <p:spPr>
          <a:xfrm>
            <a:off x="1142999" y="551770"/>
            <a:ext cx="362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Arial Narrow" panose="020B0606020202030204" pitchFamily="34" charset="0"/>
              </a:rPr>
              <a:t>Preguntas</a:t>
            </a:r>
            <a:endParaRPr lang="es-AR" sz="36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F7CE23D-5857-4246-2181-15DF75C12B6A}"/>
              </a:ext>
            </a:extLst>
          </p:cNvPr>
          <p:cNvSpPr txBox="1"/>
          <p:nvPr/>
        </p:nvSpPr>
        <p:spPr>
          <a:xfrm>
            <a:off x="1142999" y="551770"/>
            <a:ext cx="362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Arial Narrow" panose="020B0606020202030204" pitchFamily="34" charset="0"/>
              </a:rPr>
              <a:t>Análisis </a:t>
            </a:r>
            <a:endParaRPr lang="es-AR" sz="3600" dirty="0">
              <a:latin typeface="Arial Narrow" panose="020B060602020203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943024E-F4D4-0B0D-66EC-7F22D592E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84" y="2396187"/>
            <a:ext cx="8003487" cy="3791479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1682BFB-6857-1CE2-1953-DB3C66F9361C}"/>
              </a:ext>
            </a:extLst>
          </p:cNvPr>
          <p:cNvCxnSpPr/>
          <p:nvPr/>
        </p:nvCxnSpPr>
        <p:spPr>
          <a:xfrm>
            <a:off x="4572000" y="1567543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EE5FEB8-54D3-C3D3-296E-53E5304B1002}"/>
              </a:ext>
            </a:extLst>
          </p:cNvPr>
          <p:cNvCxnSpPr/>
          <p:nvPr/>
        </p:nvCxnSpPr>
        <p:spPr>
          <a:xfrm>
            <a:off x="0" y="6487886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4DFD7C2-5475-7CA5-90BD-2219F30B09F6}"/>
              </a:ext>
            </a:extLst>
          </p:cNvPr>
          <p:cNvSpPr txBox="1"/>
          <p:nvPr/>
        </p:nvSpPr>
        <p:spPr>
          <a:xfrm>
            <a:off x="471043" y="1657523"/>
            <a:ext cx="82019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rial Narrow" panose="020B0606020202030204" pitchFamily="34" charset="0"/>
              </a:rPr>
              <a:t>Top 15 variables más correlacionadas con </a:t>
            </a:r>
            <a:r>
              <a:rPr lang="es-ES" sz="2400" dirty="0" err="1">
                <a:latin typeface="Arial Narrow" panose="020B0606020202030204" pitchFamily="34" charset="0"/>
              </a:rPr>
              <a:t>ViolentCrimesPerPop</a:t>
            </a:r>
            <a:endParaRPr lang="es-ES" sz="2400" dirty="0">
              <a:latin typeface="Arial Narrow" panose="020B0606020202030204" pitchFamily="34" charset="0"/>
            </a:endParaRPr>
          </a:p>
          <a:p>
            <a:endParaRPr lang="es-A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956" y="1830269"/>
            <a:ext cx="9307286" cy="814953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lang="es-ES" sz="2400" dirty="0">
                <a:latin typeface="Arial Narrow" panose="020B0606020202030204" pitchFamily="34" charset="0"/>
              </a:rPr>
              <a:t>¿Qué variables sociodemográficas se asocian más con </a:t>
            </a:r>
            <a:r>
              <a:rPr lang="es-ES" sz="2400" dirty="0" err="1">
                <a:latin typeface="Arial Narrow" panose="020B0606020202030204" pitchFamily="34" charset="0"/>
              </a:rPr>
              <a:t>ViolentCrimesPerPop</a:t>
            </a:r>
            <a:r>
              <a:rPr lang="es-ES" sz="2400" dirty="0">
                <a:latin typeface="Arial Narrow" panose="020B0606020202030204" pitchFamily="34" charset="0"/>
              </a:rPr>
              <a:t>?</a:t>
            </a:r>
          </a:p>
          <a:p>
            <a:pPr marL="0" indent="0">
              <a:buNone/>
              <a:defRPr sz="1800"/>
            </a:pPr>
            <a:endParaRPr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471D815-3940-239D-A792-0883A022F33F}"/>
              </a:ext>
            </a:extLst>
          </p:cNvPr>
          <p:cNvCxnSpPr/>
          <p:nvPr/>
        </p:nvCxnSpPr>
        <p:spPr>
          <a:xfrm>
            <a:off x="4572000" y="1567543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6998BA4-C5A1-F643-ED9D-120156A0E96D}"/>
              </a:ext>
            </a:extLst>
          </p:cNvPr>
          <p:cNvCxnSpPr/>
          <p:nvPr/>
        </p:nvCxnSpPr>
        <p:spPr>
          <a:xfrm>
            <a:off x="0" y="6487886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783082E-2593-1CFE-B625-053D8AC43412}"/>
              </a:ext>
            </a:extLst>
          </p:cNvPr>
          <p:cNvSpPr txBox="1"/>
          <p:nvPr/>
        </p:nvSpPr>
        <p:spPr>
          <a:xfrm>
            <a:off x="146956" y="2781618"/>
            <a:ext cx="85398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latin typeface="Arial Narrow" panose="020B0606020202030204" pitchFamily="34" charset="0"/>
              </a:rPr>
              <a:t>Las variables más correlacionadas con </a:t>
            </a:r>
            <a:r>
              <a:rPr lang="es-ES" sz="2000" dirty="0" err="1">
                <a:latin typeface="Arial Narrow" panose="020B0606020202030204" pitchFamily="34" charset="0"/>
              </a:rPr>
              <a:t>ViolentCrimesPerPop</a:t>
            </a:r>
            <a:r>
              <a:rPr lang="es-ES" sz="2000" dirty="0">
                <a:latin typeface="Arial Narrow" panose="020B0606020202030204" pitchFamily="34" charset="0"/>
              </a:rPr>
              <a:t> corresponden principalmente a otros tipos de delitos violentos (</a:t>
            </a:r>
            <a:r>
              <a:rPr lang="es-ES" sz="2000" dirty="0" err="1">
                <a:latin typeface="Arial Narrow" panose="020B0606020202030204" pitchFamily="34" charset="0"/>
              </a:rPr>
              <a:t>assaultPerPop</a:t>
            </a:r>
            <a:r>
              <a:rPr lang="es-ES" sz="2000" dirty="0">
                <a:latin typeface="Arial Narrow" panose="020B0606020202030204" pitchFamily="34" charset="0"/>
              </a:rPr>
              <a:t>, </a:t>
            </a:r>
            <a:r>
              <a:rPr lang="es-ES" sz="2000" dirty="0" err="1">
                <a:latin typeface="Arial Narrow" panose="020B0606020202030204" pitchFamily="34" charset="0"/>
              </a:rPr>
              <a:t>robbrPerPop</a:t>
            </a:r>
            <a:r>
              <a:rPr lang="es-ES" sz="2000" dirty="0">
                <a:latin typeface="Arial Narrow" panose="020B0606020202030204" pitchFamily="34" charset="0"/>
              </a:rPr>
              <a:t>, </a:t>
            </a:r>
            <a:r>
              <a:rPr lang="es-ES" sz="2000" dirty="0" err="1">
                <a:latin typeface="Arial Narrow" panose="020B0606020202030204" pitchFamily="34" charset="0"/>
              </a:rPr>
              <a:t>murdPerPop</a:t>
            </a:r>
            <a:r>
              <a:rPr lang="es-ES" sz="2000" dirty="0">
                <a:latin typeface="Arial Narrow" panose="020B0606020202030204" pitchFamily="34" charset="0"/>
              </a:rPr>
              <a:t>, </a:t>
            </a:r>
            <a:r>
              <a:rPr lang="es-ES" sz="2000" dirty="0" err="1">
                <a:latin typeface="Arial Narrow" panose="020B0606020202030204" pitchFamily="34" charset="0"/>
              </a:rPr>
              <a:t>rapesPerPop</a:t>
            </a:r>
            <a:r>
              <a:rPr lang="es-ES" sz="2000" dirty="0">
                <a:latin typeface="Arial Narrow" panose="020B0606020202030204" pitchFamily="34" charset="0"/>
              </a:rPr>
              <a:t>), lo cual resulta coherente al tratarse de componentes de la misma categoría. También se observan variables asociadas a la estructura familiar, como </a:t>
            </a:r>
            <a:r>
              <a:rPr lang="es-ES" sz="2000" dirty="0" err="1">
                <a:latin typeface="Arial Narrow" panose="020B0606020202030204" pitchFamily="34" charset="0"/>
              </a:rPr>
              <a:t>PctKidsBornNeverMar</a:t>
            </a:r>
            <a:r>
              <a:rPr lang="es-ES" sz="2000" dirty="0">
                <a:latin typeface="Arial Narrow" panose="020B0606020202030204" pitchFamily="34" charset="0"/>
              </a:rPr>
              <a:t> (niños nacidos de padres no casados) y PctFam2Par (familias biparentales), que reflejan posibles factores sociales relacionados con la criminalidad. En cambio, las variables socioeconómicas como pobreza o educación presentan correlaciones más moderadas, aunque siguen siendo relevantes en un análisis más amplio.</a:t>
            </a:r>
            <a:endParaRPr lang="es-AR" sz="2000" dirty="0">
              <a:latin typeface="Arial Narrow" panose="020B0606020202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22393C-2807-3FBC-9BE6-F018E448281F}"/>
              </a:ext>
            </a:extLst>
          </p:cNvPr>
          <p:cNvSpPr txBox="1"/>
          <p:nvPr/>
        </p:nvSpPr>
        <p:spPr>
          <a:xfrm>
            <a:off x="1142999" y="551770"/>
            <a:ext cx="362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Arial Narrow" panose="020B0606020202030204" pitchFamily="34" charset="0"/>
              </a:rPr>
              <a:t>Análisis </a:t>
            </a:r>
            <a:endParaRPr lang="es-AR" sz="36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030AA08-39FF-31A3-148F-ACD1A1AE0596}"/>
              </a:ext>
            </a:extLst>
          </p:cNvPr>
          <p:cNvSpPr txBox="1"/>
          <p:nvPr/>
        </p:nvSpPr>
        <p:spPr>
          <a:xfrm>
            <a:off x="1142999" y="551770"/>
            <a:ext cx="362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Arial Narrow" panose="020B0606020202030204" pitchFamily="34" charset="0"/>
              </a:rPr>
              <a:t>Análisis </a:t>
            </a:r>
            <a:endParaRPr lang="es-AR" sz="3600" dirty="0">
              <a:latin typeface="Arial Narrow" panose="020B0606020202030204" pitchFamily="34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6EF0E38-CE9D-EC70-78D2-DA0F99F3EE54}"/>
              </a:ext>
            </a:extLst>
          </p:cNvPr>
          <p:cNvCxnSpPr/>
          <p:nvPr/>
        </p:nvCxnSpPr>
        <p:spPr>
          <a:xfrm>
            <a:off x="4572000" y="1567543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D655195-7A58-C126-FEA2-2BD8A5932B84}"/>
              </a:ext>
            </a:extLst>
          </p:cNvPr>
          <p:cNvCxnSpPr/>
          <p:nvPr/>
        </p:nvCxnSpPr>
        <p:spPr>
          <a:xfrm>
            <a:off x="0" y="6487886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6444B0-5B1C-2C46-40AA-CFFFF5CD3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97" y="2583318"/>
            <a:ext cx="4852406" cy="372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14C857B-8F1E-B7D1-F2FC-255C17704612}"/>
              </a:ext>
            </a:extLst>
          </p:cNvPr>
          <p:cNvSpPr txBox="1"/>
          <p:nvPr/>
        </p:nvSpPr>
        <p:spPr>
          <a:xfrm>
            <a:off x="5192486" y="2335912"/>
            <a:ext cx="38093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latin typeface="Arial Narrow" panose="020B0606020202030204" pitchFamily="34" charset="0"/>
              </a:rPr>
              <a:t>La correlación entre las variables analizadas indica que los factores sociodemográficos desempeñan un rol central en los niveles de criminalidad violenta. La pobreza, la baja educación y la desintegración familiar están asociadas con mayores tasas de crimen, mientras que la estabilidad familiar y el ingreso medio parecen actuar como factores protectores. Estas relaciones sugieren que políticas públicas orientadas a mejorar la educación, reducir la pobreza y fortalecer el núcleo familiar podrían contribuir a disminuir la violencia en las comunidades.</a:t>
            </a:r>
            <a:endParaRPr lang="es-AR" dirty="0">
              <a:latin typeface="Arial Narrow" panose="020B0606020202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088EE36-2025-7211-1CF2-64781359B21D}"/>
              </a:ext>
            </a:extLst>
          </p:cNvPr>
          <p:cNvSpPr txBox="1"/>
          <p:nvPr/>
        </p:nvSpPr>
        <p:spPr>
          <a:xfrm>
            <a:off x="88452" y="1721431"/>
            <a:ext cx="905554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Arial Narrow" panose="020B0606020202030204" pitchFamily="34" charset="0"/>
              </a:rPr>
              <a:t>¿La pobreza, educación o estructura familiar influyen en el crimen?</a:t>
            </a:r>
          </a:p>
          <a:p>
            <a:endParaRPr lang="es-A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292D648-4EC5-6613-7586-178FA661A572}"/>
              </a:ext>
            </a:extLst>
          </p:cNvPr>
          <p:cNvCxnSpPr/>
          <p:nvPr/>
        </p:nvCxnSpPr>
        <p:spPr>
          <a:xfrm>
            <a:off x="4572000" y="1567543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90CD0E5-E4F7-8BD8-2432-58E4D3588B97}"/>
              </a:ext>
            </a:extLst>
          </p:cNvPr>
          <p:cNvCxnSpPr/>
          <p:nvPr/>
        </p:nvCxnSpPr>
        <p:spPr>
          <a:xfrm>
            <a:off x="0" y="6487886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94D2DFB-E00F-E6ED-691A-A5BBC89CAC9E}"/>
              </a:ext>
            </a:extLst>
          </p:cNvPr>
          <p:cNvSpPr txBox="1"/>
          <p:nvPr/>
        </p:nvSpPr>
        <p:spPr>
          <a:xfrm>
            <a:off x="1142999" y="551770"/>
            <a:ext cx="362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Arial Narrow" panose="020B0606020202030204" pitchFamily="34" charset="0"/>
              </a:rPr>
              <a:t>Análisis </a:t>
            </a:r>
            <a:endParaRPr lang="es-AR" sz="3600" dirty="0">
              <a:latin typeface="Arial Narrow" panose="020B0606020202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2CDCE48-897C-324D-9335-EFE62FA37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362" y="2418214"/>
            <a:ext cx="4365851" cy="3719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0BB39AB-A912-BC47-9DFD-A432202A0B40}"/>
              </a:ext>
            </a:extLst>
          </p:cNvPr>
          <p:cNvSpPr txBox="1"/>
          <p:nvPr/>
        </p:nvSpPr>
        <p:spPr>
          <a:xfrm>
            <a:off x="195942" y="1699640"/>
            <a:ext cx="914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Arial Narrow" panose="020B0606020202030204" pitchFamily="34" charset="0"/>
              </a:rPr>
              <a:t>¿Se pueden agrupar comunidades con perfiles de riesgo similares?</a:t>
            </a:r>
          </a:p>
          <a:p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C43DE94-6E5F-977D-068B-438533BC4ADA}"/>
              </a:ext>
            </a:extLst>
          </p:cNvPr>
          <p:cNvSpPr txBox="1"/>
          <p:nvPr/>
        </p:nvSpPr>
        <p:spPr>
          <a:xfrm>
            <a:off x="195942" y="2418214"/>
            <a:ext cx="400050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latin typeface="Arial Narrow" panose="020B0606020202030204" pitchFamily="34" charset="0"/>
              </a:rPr>
              <a:t>Los niveles de crimen violento están asociados a un conjunto de factores socioeconómicos interrelacionados. Las comunidades con mayor pobreza, menor nivel educativo y mayor proporción de familias desintegradas presentan consistentemente tasas más altas de violencia. Por el contrario, aquellas con mayor estabilidad familiar y mejores condiciones socioeconómicas exhiben niveles significativamente más bajos.</a:t>
            </a:r>
            <a:endParaRPr lang="es-AR" sz="20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29CE23C-A27B-F70F-0CA7-54D2334240AD}"/>
              </a:ext>
            </a:extLst>
          </p:cNvPr>
          <p:cNvCxnSpPr/>
          <p:nvPr/>
        </p:nvCxnSpPr>
        <p:spPr>
          <a:xfrm>
            <a:off x="4572000" y="1567543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0903CF5-76EB-5429-4442-FEFB702ACF4E}"/>
              </a:ext>
            </a:extLst>
          </p:cNvPr>
          <p:cNvCxnSpPr/>
          <p:nvPr/>
        </p:nvCxnSpPr>
        <p:spPr>
          <a:xfrm>
            <a:off x="0" y="6487886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BB5EE63D-F766-1211-FB69-3E0B4F67446B}"/>
              </a:ext>
            </a:extLst>
          </p:cNvPr>
          <p:cNvSpPr txBox="1"/>
          <p:nvPr/>
        </p:nvSpPr>
        <p:spPr>
          <a:xfrm>
            <a:off x="1142999" y="551770"/>
            <a:ext cx="362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Arial Narrow" panose="020B0606020202030204" pitchFamily="34" charset="0"/>
              </a:rPr>
              <a:t>Análisis </a:t>
            </a:r>
            <a:endParaRPr lang="es-AR" sz="3600" dirty="0">
              <a:latin typeface="Arial Narrow" panose="020B060602020203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3A72686-88B5-50F3-41EE-7413DA125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575" y="2815070"/>
            <a:ext cx="6458849" cy="3491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EB084AD-DA22-049B-3630-3F8D33138A59}"/>
              </a:ext>
            </a:extLst>
          </p:cNvPr>
          <p:cNvSpPr txBox="1"/>
          <p:nvPr/>
        </p:nvSpPr>
        <p:spPr>
          <a:xfrm>
            <a:off x="163286" y="1779814"/>
            <a:ext cx="87357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Arial Narrow" panose="020B0606020202030204" pitchFamily="34" charset="0"/>
              </a:rPr>
              <a:t>¿Podemos predecir correctamente comunidades con alta tasa de crímenes violentos?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6F2DE088-F881-91CF-F738-D494A598A6B5}"/>
              </a:ext>
            </a:extLst>
          </p:cNvPr>
          <p:cNvSpPr txBox="1"/>
          <p:nvPr/>
        </p:nvSpPr>
        <p:spPr>
          <a:xfrm>
            <a:off x="302079" y="1936985"/>
            <a:ext cx="853984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>
                <a:latin typeface="Arial Narrow" panose="020B0606020202030204" pitchFamily="34" charset="0"/>
              </a:rPr>
              <a:t>Se muestran relaciones claras entre la tasa de crímenes violentos y las condiciones socioeconómicas de las comunidades. A medida que aumentan la pobreza, el bajo nivel educativo y la proporción de niños de padres no casados, se incrementa la violencia. En contraste, una mayor proporción de familias biparentales se asocia con una reducción significativa del crimen.</a:t>
            </a:r>
          </a:p>
          <a:p>
            <a:pPr algn="just"/>
            <a:r>
              <a:rPr lang="es-ES" sz="2400" dirty="0">
                <a:latin typeface="Arial Narrow" panose="020B0606020202030204" pitchFamily="34" charset="0"/>
              </a:rPr>
              <a:t>En conjunto, estos resultados confirman que la desigualdad, la educación y la estructura familiar son variables determinantes en los niveles de criminalidad violenta, y deben considerarse como dimensiones interdependientes del riesgo social.</a:t>
            </a:r>
          </a:p>
          <a:p>
            <a:endParaRPr lang="es-AR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3DC4ECC-648E-138C-C090-4E7BEA0F9E01}"/>
              </a:ext>
            </a:extLst>
          </p:cNvPr>
          <p:cNvCxnSpPr/>
          <p:nvPr/>
        </p:nvCxnSpPr>
        <p:spPr>
          <a:xfrm>
            <a:off x="4572000" y="1567543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3738207-9D4C-971E-9915-ED9FD3362811}"/>
              </a:ext>
            </a:extLst>
          </p:cNvPr>
          <p:cNvCxnSpPr/>
          <p:nvPr/>
        </p:nvCxnSpPr>
        <p:spPr>
          <a:xfrm>
            <a:off x="0" y="6487886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3330DCF1-12CF-E4C5-5F9E-6245AC568DB0}"/>
              </a:ext>
            </a:extLst>
          </p:cNvPr>
          <p:cNvSpPr txBox="1"/>
          <p:nvPr/>
        </p:nvSpPr>
        <p:spPr>
          <a:xfrm>
            <a:off x="1142999" y="551770"/>
            <a:ext cx="362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Arial Narrow" panose="020B0606020202030204" pitchFamily="34" charset="0"/>
              </a:rPr>
              <a:t>Análisis </a:t>
            </a:r>
            <a:endParaRPr lang="es-AR" sz="36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5595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s-ES" sz="2400" dirty="0">
                <a:latin typeface="Arial Narrow" panose="020B0606020202030204" pitchFamily="34" charset="0"/>
              </a:rPr>
              <a:t>El análisis evidencia que la criminalidad violenta está fuertemente condicionada por factores sociales y estructurales. Las comunidades más vulnerables —caracterizadas por bajos ingresos, bajo nivel educativo y estructuras familiares inestables— concentran las tasas más altas de delitos violentos.</a:t>
            </a:r>
          </a:p>
          <a:p>
            <a:pPr algn="just"/>
            <a:r>
              <a:rPr lang="es-ES" sz="2400" dirty="0">
                <a:latin typeface="Arial Narrow" panose="020B0606020202030204" pitchFamily="34" charset="0"/>
              </a:rPr>
              <a:t>A su vez, los entornos con mayor estabilidad familiar y educativa presentan una clara disminución de la violencia.</a:t>
            </a:r>
          </a:p>
          <a:p>
            <a:pPr algn="just"/>
            <a:r>
              <a:rPr lang="es-ES" sz="2400" dirty="0">
                <a:latin typeface="Arial Narrow" panose="020B0606020202030204" pitchFamily="34" charset="0"/>
              </a:rPr>
              <a:t>En consecuencia, las políticas de prevención deberían abordarse de forma integral, combinando estrategias económicas, educativas y sociales que reduzcan la vulnerabilidad y fortalezcan el tejido comunitario.</a:t>
            </a:r>
          </a:p>
          <a:p>
            <a:pPr marL="0" indent="0" algn="just">
              <a:buNone/>
              <a:defRPr sz="1800"/>
            </a:pPr>
            <a:endParaRPr sz="2400" dirty="0">
              <a:latin typeface="Arial Narrow" panose="020B060602020203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77DB80E-C111-38B2-99BB-DA17D3F80F34}"/>
              </a:ext>
            </a:extLst>
          </p:cNvPr>
          <p:cNvCxnSpPr/>
          <p:nvPr/>
        </p:nvCxnSpPr>
        <p:spPr>
          <a:xfrm>
            <a:off x="4572000" y="1567543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0CA1B0C-7866-8680-8A72-1755657B3ED4}"/>
              </a:ext>
            </a:extLst>
          </p:cNvPr>
          <p:cNvCxnSpPr/>
          <p:nvPr/>
        </p:nvCxnSpPr>
        <p:spPr>
          <a:xfrm>
            <a:off x="0" y="6487886"/>
            <a:ext cx="4572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253AC0F-3E29-17C7-F3A0-695CA9E46576}"/>
              </a:ext>
            </a:extLst>
          </p:cNvPr>
          <p:cNvSpPr txBox="1"/>
          <p:nvPr/>
        </p:nvSpPr>
        <p:spPr>
          <a:xfrm>
            <a:off x="1142999" y="551770"/>
            <a:ext cx="4343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Arial Narrow" panose="020B0606020202030204" pitchFamily="34" charset="0"/>
              </a:rPr>
              <a:t>Conclusiones generales </a:t>
            </a:r>
            <a:endParaRPr lang="es-AR" sz="36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667</Words>
  <Application>Microsoft Office PowerPoint</Application>
  <PresentationFormat>Presentación en pantalla (4:3)</PresentationFormat>
  <Paragraphs>42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Narrow</vt:lpstr>
      <vt:lpstr>Calibri</vt:lpstr>
      <vt:lpstr>Office Theme</vt:lpstr>
      <vt:lpstr>Proyecto Estudio de los factores vinculados a los delitos violentos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Andy</dc:creator>
  <cp:keywords/>
  <dc:description>generated using python-pptx</dc:description>
  <cp:lastModifiedBy>Andrea Gómez</cp:lastModifiedBy>
  <cp:revision>2</cp:revision>
  <dcterms:created xsi:type="dcterms:W3CDTF">2013-01-27T09:14:16Z</dcterms:created>
  <dcterms:modified xsi:type="dcterms:W3CDTF">2025-10-26T20:21:52Z</dcterms:modified>
  <cp:category/>
</cp:coreProperties>
</file>